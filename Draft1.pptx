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Oswald" charset="1" panose="00000500000000000000"/>
      <p:regular r:id="rId15"/>
    </p:embeddedFont>
    <p:embeddedFont>
      <p:font typeface="Oswald Bold" charset="1" panose="000008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Times New Roman MT Bold" charset="1" panose="0203080207040502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https://youtu.be/ojULkWEUsPs" TargetMode="External" Type="http://schemas.openxmlformats.org/officeDocument/2006/relationships/hyperlink"/><Relationship Id="rId14" Target="https://youtu.be/ojULkWEUsPs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5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.jpeg" Type="http://schemas.openxmlformats.org/officeDocument/2006/relationships/image"/><Relationship Id="rId4" Target="../media/image20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24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42918" y="1994935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12597" y="3902297"/>
            <a:ext cx="4805258" cy="5139357"/>
            <a:chOff x="0" y="0"/>
            <a:chExt cx="6407010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70425" y="-876767"/>
            <a:ext cx="15544800" cy="3477150"/>
            <a:chOff x="0" y="0"/>
            <a:chExt cx="20726400" cy="463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636202"/>
            </a:xfrm>
            <a:custGeom>
              <a:avLst/>
              <a:gdLst/>
              <a:ahLst/>
              <a:cxnLst/>
              <a:rect r="r" b="b" t="t" l="l"/>
              <a:pathLst>
                <a:path h="463620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636202"/>
                  </a:lnTo>
                  <a:lnTo>
                    <a:pt x="0" y="4636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108" r="0" b="-371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655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2873" y="2272379"/>
            <a:ext cx="13533149" cy="716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 26164</a:t>
            </a:r>
          </a:p>
          <a:p>
            <a:pPr algn="l" marL="651510" indent="-325755" lvl="1">
              <a:lnSpc>
                <a:spcPts val="648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Enterprise Cryptographic Discovery &amp; Analysis Tool (ECDAT)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Blockchain &amp; Cybersecurity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Mudrita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11013" y="0"/>
            <a:ext cx="3369859" cy="1723615"/>
            <a:chOff x="0" y="0"/>
            <a:chExt cx="4493146" cy="22981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72553" y="-261572"/>
            <a:ext cx="12667399" cy="2025068"/>
            <a:chOff x="0" y="0"/>
            <a:chExt cx="17362195" cy="277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62201" cy="2775602"/>
            </a:xfrm>
            <a:custGeom>
              <a:avLst/>
              <a:gdLst/>
              <a:ahLst/>
              <a:cxnLst/>
              <a:rect r="r" b="b" t="t" l="l"/>
              <a:pathLst>
                <a:path h="2775602" w="17362201">
                  <a:moveTo>
                    <a:pt x="0" y="0"/>
                  </a:moveTo>
                  <a:lnTo>
                    <a:pt x="17362201" y="0"/>
                  </a:lnTo>
                  <a:lnTo>
                    <a:pt x="17362201" y="2775602"/>
                  </a:lnTo>
                  <a:lnTo>
                    <a:pt x="0" y="27756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884" r="0" b="-718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7362195" cy="280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Ent</a:t>
              </a:r>
              <a:r>
                <a:rPr lang="en-US" b="true" sz="4500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erprise Cryptographic Discovery &amp; Analysis Tool (ECDAT)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64567" y="8736006"/>
            <a:ext cx="4806001" cy="547649"/>
            <a:chOff x="0" y="0"/>
            <a:chExt cx="6408001" cy="730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00"/>
            </a:xfrm>
            <a:custGeom>
              <a:avLst/>
              <a:gdLst/>
              <a:ahLst/>
              <a:cxnLst/>
              <a:rect r="r" b="b" t="t" l="l"/>
              <a:pathLst>
                <a:path h="73020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94" r="0" b="-1209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408001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43762" y="198312"/>
            <a:ext cx="3369859" cy="1723615"/>
            <a:chOff x="0" y="0"/>
            <a:chExt cx="4493146" cy="22981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606776" y="1430686"/>
            <a:ext cx="6724249" cy="8101458"/>
          </a:xfrm>
          <a:custGeom>
            <a:avLst/>
            <a:gdLst/>
            <a:ahLst/>
            <a:cxnLst/>
            <a:rect r="r" b="b" t="t" l="l"/>
            <a:pathLst>
              <a:path h="8101458" w="6724249">
                <a:moveTo>
                  <a:pt x="0" y="0"/>
                </a:moveTo>
                <a:lnTo>
                  <a:pt x="6724250" y="0"/>
                </a:lnTo>
                <a:lnTo>
                  <a:pt x="6724250" y="8101458"/>
                </a:lnTo>
                <a:lnTo>
                  <a:pt x="0" y="8101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23" t="-1581" r="-12463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0482" y="2173682"/>
            <a:ext cx="5236578" cy="1675705"/>
          </a:xfrm>
          <a:custGeom>
            <a:avLst/>
            <a:gdLst/>
            <a:ahLst/>
            <a:cxnLst/>
            <a:rect r="r" b="b" t="t" l="l"/>
            <a:pathLst>
              <a:path h="1675705" w="5236578">
                <a:moveTo>
                  <a:pt x="0" y="0"/>
                </a:moveTo>
                <a:lnTo>
                  <a:pt x="5236578" y="0"/>
                </a:lnTo>
                <a:lnTo>
                  <a:pt x="5236578" y="1675705"/>
                </a:lnTo>
                <a:lnTo>
                  <a:pt x="0" y="1675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90482" y="5838690"/>
            <a:ext cx="5236578" cy="1675705"/>
          </a:xfrm>
          <a:custGeom>
            <a:avLst/>
            <a:gdLst/>
            <a:ahLst/>
            <a:cxnLst/>
            <a:rect r="r" b="b" t="t" l="l"/>
            <a:pathLst>
              <a:path h="1675705" w="5236578">
                <a:moveTo>
                  <a:pt x="0" y="0"/>
                </a:moveTo>
                <a:lnTo>
                  <a:pt x="5236578" y="0"/>
                </a:lnTo>
                <a:lnTo>
                  <a:pt x="5236578" y="1675705"/>
                </a:lnTo>
                <a:lnTo>
                  <a:pt x="0" y="1675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0482" y="4018154"/>
            <a:ext cx="5236578" cy="1675705"/>
          </a:xfrm>
          <a:custGeom>
            <a:avLst/>
            <a:gdLst/>
            <a:ahLst/>
            <a:cxnLst/>
            <a:rect r="r" b="b" t="t" l="l"/>
            <a:pathLst>
              <a:path h="1675705" w="5236578">
                <a:moveTo>
                  <a:pt x="0" y="0"/>
                </a:moveTo>
                <a:lnTo>
                  <a:pt x="5236578" y="0"/>
                </a:lnTo>
                <a:lnTo>
                  <a:pt x="5236578" y="1675705"/>
                </a:lnTo>
                <a:lnTo>
                  <a:pt x="0" y="16757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99525" y="6728889"/>
            <a:ext cx="6888475" cy="2529411"/>
          </a:xfrm>
          <a:custGeom>
            <a:avLst/>
            <a:gdLst/>
            <a:ahLst/>
            <a:cxnLst/>
            <a:rect r="r" b="b" t="t" l="l"/>
            <a:pathLst>
              <a:path h="2529411" w="6888475">
                <a:moveTo>
                  <a:pt x="0" y="0"/>
                </a:moveTo>
                <a:lnTo>
                  <a:pt x="6888475" y="0"/>
                </a:lnTo>
                <a:lnTo>
                  <a:pt x="6888475" y="2529411"/>
                </a:lnTo>
                <a:lnTo>
                  <a:pt x="0" y="25294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7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418650" y="2102245"/>
            <a:ext cx="5642853" cy="4433769"/>
          </a:xfrm>
          <a:custGeom>
            <a:avLst/>
            <a:gdLst/>
            <a:ahLst/>
            <a:cxnLst/>
            <a:rect r="r" b="b" t="t" l="l"/>
            <a:pathLst>
              <a:path h="4433769" w="5642853">
                <a:moveTo>
                  <a:pt x="0" y="0"/>
                </a:moveTo>
                <a:lnTo>
                  <a:pt x="5642853" y="0"/>
                </a:lnTo>
                <a:lnTo>
                  <a:pt x="5642853" y="4433769"/>
                </a:lnTo>
                <a:lnTo>
                  <a:pt x="0" y="44337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218" t="0" r="-10641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51440" y="7585832"/>
            <a:ext cx="2715849" cy="1738144"/>
          </a:xfrm>
          <a:custGeom>
            <a:avLst/>
            <a:gdLst/>
            <a:ahLst/>
            <a:cxnLst/>
            <a:rect r="r" b="b" t="t" l="l"/>
            <a:pathLst>
              <a:path h="1738144" w="2715849">
                <a:moveTo>
                  <a:pt x="0" y="0"/>
                </a:moveTo>
                <a:lnTo>
                  <a:pt x="2715850" y="0"/>
                </a:lnTo>
                <a:lnTo>
                  <a:pt x="2715850" y="1738144"/>
                </a:lnTo>
                <a:lnTo>
                  <a:pt x="0" y="17381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770374">
            <a:off x="3329743" y="7677111"/>
            <a:ext cx="2239681" cy="597248"/>
          </a:xfrm>
          <a:custGeom>
            <a:avLst/>
            <a:gdLst/>
            <a:ahLst/>
            <a:cxnLst/>
            <a:rect r="r" b="b" t="t" l="l"/>
            <a:pathLst>
              <a:path h="597248" w="2239681">
                <a:moveTo>
                  <a:pt x="2239681" y="0"/>
                </a:moveTo>
                <a:lnTo>
                  <a:pt x="0" y="0"/>
                </a:lnTo>
                <a:lnTo>
                  <a:pt x="0" y="597248"/>
                </a:lnTo>
                <a:lnTo>
                  <a:pt x="2239681" y="597248"/>
                </a:lnTo>
                <a:lnTo>
                  <a:pt x="223968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0947" y="2322788"/>
            <a:ext cx="4532121" cy="117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21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The problem: </a:t>
            </a:r>
            <a:r>
              <a:rPr lang="en-US" sz="2215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Crypto is scattered across enterprise systems.</a:t>
            </a:r>
          </a:p>
          <a:p>
            <a:pPr algn="l">
              <a:lnSpc>
                <a:spcPts val="3102"/>
              </a:lnSpc>
            </a:pPr>
            <a:r>
              <a:rPr lang="en-US" sz="2215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No unified visibility or migration priority.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743" y="4003093"/>
            <a:ext cx="4664529" cy="147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15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Why It Matters?:</a:t>
            </a:r>
            <a:r>
              <a:rPr lang="en-US" sz="2115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Quantum-vulnerable crypto threatens long-lived sensitive data.</a:t>
            </a:r>
          </a:p>
          <a:p>
            <a:pPr algn="l">
              <a:lnSpc>
                <a:spcPts val="2961"/>
              </a:lnSpc>
            </a:pPr>
            <a:r>
              <a:rPr lang="en-US" sz="2115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Limited migration time increases future exposure.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8539" y="5916994"/>
            <a:ext cx="4664529" cy="14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2014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The Solution :</a:t>
            </a:r>
            <a:r>
              <a:rPr lang="en-US" sz="2014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ECDAT discovers and analyzes enterprise cryptography.</a:t>
            </a:r>
          </a:p>
          <a:p>
            <a:pPr algn="l">
              <a:lnSpc>
                <a:spcPts val="2820"/>
              </a:lnSpc>
            </a:pPr>
            <a:r>
              <a:rPr lang="en-US" sz="2014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It scores risk, recommends PQC, and prioritizes migration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57958" y="2343921"/>
            <a:ext cx="564237" cy="58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</a:pPr>
            <a:r>
              <a:rPr lang="en-US" sz="3441" b="true">
                <a:solidFill>
                  <a:srgbClr val="F796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64567" y="8056559"/>
            <a:ext cx="16462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3131"/>
                </a:solidFill>
                <a:latin typeface="Oswald Bold"/>
                <a:ea typeface="Oswald Bold"/>
                <a:cs typeface="Oswald Bold"/>
                <a:sym typeface="Oswald Bold"/>
              </a:rPr>
              <a:t>Prototype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6448" y="8167683"/>
            <a:ext cx="1442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13" tooltip="https://youtu.be/ojULkWEUsPs"/>
              </a:rPr>
              <a:t>Click here</a:t>
            </a:r>
          </a:p>
          <a:p>
            <a:pPr algn="ctr">
              <a:lnSpc>
                <a:spcPts val="3359"/>
              </a:lnSpc>
            </a:pPr>
            <a:r>
              <a:rPr lang="en-US" b="true" sz="24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14" tooltip="https://youtu.be/ojULkWEUsPs"/>
              </a:rPr>
              <a:t>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40032" y="882013"/>
            <a:ext cx="5139010" cy="8786587"/>
          </a:xfrm>
          <a:custGeom>
            <a:avLst/>
            <a:gdLst/>
            <a:ahLst/>
            <a:cxnLst/>
            <a:rect r="r" b="b" t="t" l="l"/>
            <a:pathLst>
              <a:path h="8786587" w="5139010">
                <a:moveTo>
                  <a:pt x="0" y="0"/>
                </a:moveTo>
                <a:lnTo>
                  <a:pt x="5139011" y="0"/>
                </a:lnTo>
                <a:lnTo>
                  <a:pt x="5139011" y="8786587"/>
                </a:lnTo>
                <a:lnTo>
                  <a:pt x="0" y="8786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" t="-7433" r="-130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45504" y="174847"/>
            <a:ext cx="8196991" cy="895331"/>
            <a:chOff x="0" y="0"/>
            <a:chExt cx="21945600" cy="2397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397047"/>
            </a:xfrm>
            <a:custGeom>
              <a:avLst/>
              <a:gdLst/>
              <a:ahLst/>
              <a:cxnLst/>
              <a:rect r="r" b="b" t="t" l="l"/>
              <a:pathLst>
                <a:path h="239704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97047"/>
                  </a:lnTo>
                  <a:lnTo>
                    <a:pt x="0" y="2397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706" r="0" b="-12607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1945600" cy="2416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21282" y="9534482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574542" y="0"/>
            <a:ext cx="3369859" cy="1723615"/>
            <a:chOff x="0" y="0"/>
            <a:chExt cx="4493146" cy="22981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4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90256" y="2005152"/>
            <a:ext cx="7783101" cy="4564148"/>
          </a:xfrm>
          <a:custGeom>
            <a:avLst/>
            <a:gdLst/>
            <a:ahLst/>
            <a:cxnLst/>
            <a:rect r="r" b="b" t="t" l="l"/>
            <a:pathLst>
              <a:path h="4564148" w="7783101">
                <a:moveTo>
                  <a:pt x="0" y="0"/>
                </a:moveTo>
                <a:lnTo>
                  <a:pt x="7783101" y="0"/>
                </a:lnTo>
                <a:lnTo>
                  <a:pt x="7783101" y="4564148"/>
                </a:lnTo>
                <a:lnTo>
                  <a:pt x="0" y="4564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0" r="0" b="-332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3234" y="142951"/>
            <a:ext cx="2507704" cy="2084250"/>
            <a:chOff x="0" y="0"/>
            <a:chExt cx="3343605" cy="2779000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3343656" cy="2779013"/>
            </a:xfrm>
            <a:custGeom>
              <a:avLst/>
              <a:gdLst/>
              <a:ahLst/>
              <a:cxnLst/>
              <a:rect r="r" b="b" t="t" l="l"/>
              <a:pathLst>
                <a:path h="2779013" w="3343656">
                  <a:moveTo>
                    <a:pt x="0" y="1389506"/>
                  </a:moveTo>
                  <a:cubicBezTo>
                    <a:pt x="0" y="622046"/>
                    <a:pt x="748538" y="0"/>
                    <a:pt x="1671828" y="0"/>
                  </a:cubicBezTo>
                  <a:cubicBezTo>
                    <a:pt x="2595118" y="0"/>
                    <a:pt x="3343656" y="622046"/>
                    <a:pt x="3343656" y="1389506"/>
                  </a:cubicBezTo>
                  <a:cubicBezTo>
                    <a:pt x="3343656" y="2156967"/>
                    <a:pt x="2595118" y="2779013"/>
                    <a:pt x="1671828" y="2779013"/>
                  </a:cubicBezTo>
                  <a:cubicBezTo>
                    <a:pt x="748538" y="2779013"/>
                    <a:pt x="0" y="2156840"/>
                    <a:pt x="0" y="138950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343605" cy="279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Mud</a:t>
              </a: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06400" y="9534525"/>
            <a:ext cx="4267352" cy="547649"/>
            <a:chOff x="0" y="0"/>
            <a:chExt cx="5689803" cy="7301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89800" cy="730200"/>
            </a:xfrm>
            <a:custGeom>
              <a:avLst/>
              <a:gdLst/>
              <a:ahLst/>
              <a:cxnLst/>
              <a:rect r="r" b="b" t="t" l="l"/>
              <a:pathLst>
                <a:path h="730200" w="5689800">
                  <a:moveTo>
                    <a:pt x="0" y="0"/>
                  </a:moveTo>
                  <a:lnTo>
                    <a:pt x="5689800" y="0"/>
                  </a:lnTo>
                  <a:lnTo>
                    <a:pt x="56898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29" r="0" b="-1018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689803" cy="730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8340032" y="1070178"/>
            <a:ext cx="0" cy="8461966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3440946" y="1059426"/>
            <a:ext cx="19047" cy="8475056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963128" y="1723615"/>
            <a:ext cx="3643857" cy="5811275"/>
          </a:xfrm>
          <a:custGeom>
            <a:avLst/>
            <a:gdLst/>
            <a:ahLst/>
            <a:cxnLst/>
            <a:rect r="r" b="b" t="t" l="l"/>
            <a:pathLst>
              <a:path h="5811275" w="3643857">
                <a:moveTo>
                  <a:pt x="0" y="0"/>
                </a:moveTo>
                <a:lnTo>
                  <a:pt x="3643857" y="0"/>
                </a:lnTo>
                <a:lnTo>
                  <a:pt x="3643857" y="5811276"/>
                </a:lnTo>
                <a:lnTo>
                  <a:pt x="0" y="5811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2146" t="-2882" r="-103167" b="-4803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9776" y="6610522"/>
            <a:ext cx="5812603" cy="2752593"/>
          </a:xfrm>
          <a:custGeom>
            <a:avLst/>
            <a:gdLst/>
            <a:ahLst/>
            <a:cxnLst/>
            <a:rect r="r" b="b" t="t" l="l"/>
            <a:pathLst>
              <a:path h="2752593" w="5812603">
                <a:moveTo>
                  <a:pt x="0" y="0"/>
                </a:moveTo>
                <a:lnTo>
                  <a:pt x="5812603" y="0"/>
                </a:lnTo>
                <a:lnTo>
                  <a:pt x="5812603" y="2752594"/>
                </a:lnTo>
                <a:lnTo>
                  <a:pt x="0" y="27525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83" t="-5624" r="-1775" b="-1110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55557" y="7710289"/>
            <a:ext cx="2418767" cy="1548011"/>
          </a:xfrm>
          <a:custGeom>
            <a:avLst/>
            <a:gdLst/>
            <a:ahLst/>
            <a:cxnLst/>
            <a:rect r="r" b="b" t="t" l="l"/>
            <a:pathLst>
              <a:path h="1548011" w="2418767">
                <a:moveTo>
                  <a:pt x="0" y="0"/>
                </a:moveTo>
                <a:lnTo>
                  <a:pt x="2418767" y="0"/>
                </a:lnTo>
                <a:lnTo>
                  <a:pt x="2418767" y="1548011"/>
                </a:lnTo>
                <a:lnTo>
                  <a:pt x="0" y="1548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727872" y="7920179"/>
            <a:ext cx="1279144" cy="97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3" b="true">
                <a:solidFill>
                  <a:srgbClr val="FF313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Detailed Report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885485">
            <a:off x="14386617" y="7799405"/>
            <a:ext cx="1097494" cy="292665"/>
          </a:xfrm>
          <a:custGeom>
            <a:avLst/>
            <a:gdLst/>
            <a:ahLst/>
            <a:cxnLst/>
            <a:rect r="r" b="b" t="t" l="l"/>
            <a:pathLst>
              <a:path h="292665" w="1097494">
                <a:moveTo>
                  <a:pt x="0" y="0"/>
                </a:moveTo>
                <a:lnTo>
                  <a:pt x="1097494" y="0"/>
                </a:lnTo>
                <a:lnTo>
                  <a:pt x="1097494" y="292665"/>
                </a:lnTo>
                <a:lnTo>
                  <a:pt x="0" y="292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725368" y="8180448"/>
            <a:ext cx="1279144" cy="71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b="true" sz="1953" u="sng">
                <a:solidFill>
                  <a:srgbClr val="0000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GITHUB REPORT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601" y="1593870"/>
            <a:ext cx="15981637" cy="8383697"/>
          </a:xfrm>
          <a:custGeom>
            <a:avLst/>
            <a:gdLst/>
            <a:ahLst/>
            <a:cxnLst/>
            <a:rect r="r" b="b" t="t" l="l"/>
            <a:pathLst>
              <a:path h="8383697" w="15981637">
                <a:moveTo>
                  <a:pt x="0" y="0"/>
                </a:moveTo>
                <a:lnTo>
                  <a:pt x="15981637" y="0"/>
                </a:lnTo>
                <a:lnTo>
                  <a:pt x="15981637" y="8383696"/>
                </a:lnTo>
                <a:lnTo>
                  <a:pt x="0" y="8383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96" t="-7311" r="-3237" b="-670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12780" y="486419"/>
            <a:ext cx="8462441" cy="895331"/>
            <a:chOff x="0" y="0"/>
            <a:chExt cx="11283254" cy="1193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83255" cy="1193775"/>
            </a:xfrm>
            <a:custGeom>
              <a:avLst/>
              <a:gdLst/>
              <a:ahLst/>
              <a:cxnLst/>
              <a:rect r="r" b="b" t="t" l="l"/>
              <a:pathLst>
                <a:path h="1193775" w="11283255">
                  <a:moveTo>
                    <a:pt x="0" y="0"/>
                  </a:moveTo>
                  <a:lnTo>
                    <a:pt x="11283255" y="0"/>
                  </a:lnTo>
                  <a:lnTo>
                    <a:pt x="11283255" y="1193775"/>
                  </a:lnTo>
                  <a:lnTo>
                    <a:pt x="0" y="11937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3" r="-94497" b="-3539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283254" cy="121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1156035" y="7519547"/>
            <a:ext cx="5679203" cy="2767453"/>
          </a:xfrm>
          <a:custGeom>
            <a:avLst/>
            <a:gdLst/>
            <a:ahLst/>
            <a:cxnLst/>
            <a:rect r="r" b="b" t="t" l="l"/>
            <a:pathLst>
              <a:path h="2767453" w="5679203">
                <a:moveTo>
                  <a:pt x="5679203" y="0"/>
                </a:moveTo>
                <a:lnTo>
                  <a:pt x="0" y="0"/>
                </a:lnTo>
                <a:lnTo>
                  <a:pt x="0" y="2767453"/>
                </a:lnTo>
                <a:lnTo>
                  <a:pt x="5679203" y="2767453"/>
                </a:lnTo>
                <a:lnTo>
                  <a:pt x="5679203" y="0"/>
                </a:lnTo>
                <a:close/>
              </a:path>
            </a:pathLst>
          </a:custGeom>
          <a:blipFill>
            <a:blip r:embed="rId4"/>
            <a:stretch>
              <a:fillRect l="0" t="-10399" r="0" b="-5033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05867" y="-50683"/>
            <a:ext cx="3369859" cy="1723615"/>
            <a:chOff x="0" y="0"/>
            <a:chExt cx="4493146" cy="229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26115" y="-50683"/>
            <a:ext cx="2109631" cy="1753396"/>
            <a:chOff x="0" y="0"/>
            <a:chExt cx="3343605" cy="2779000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3343656" cy="2779013"/>
            </a:xfrm>
            <a:custGeom>
              <a:avLst/>
              <a:gdLst/>
              <a:ahLst/>
              <a:cxnLst/>
              <a:rect r="r" b="b" t="t" l="l"/>
              <a:pathLst>
                <a:path h="2779013" w="3343656">
                  <a:moveTo>
                    <a:pt x="0" y="1389506"/>
                  </a:moveTo>
                  <a:cubicBezTo>
                    <a:pt x="0" y="622046"/>
                    <a:pt x="748538" y="0"/>
                    <a:pt x="1671828" y="0"/>
                  </a:cubicBezTo>
                  <a:cubicBezTo>
                    <a:pt x="2595118" y="0"/>
                    <a:pt x="3343656" y="622046"/>
                    <a:pt x="3343656" y="1389506"/>
                  </a:cubicBezTo>
                  <a:cubicBezTo>
                    <a:pt x="3343656" y="2156967"/>
                    <a:pt x="2595118" y="2779013"/>
                    <a:pt x="1671828" y="2779013"/>
                  </a:cubicBezTo>
                  <a:cubicBezTo>
                    <a:pt x="748538" y="2779013"/>
                    <a:pt x="0" y="2156840"/>
                    <a:pt x="0" y="138950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343605" cy="279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Mud</a:t>
              </a: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rita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2884" y="319049"/>
            <a:ext cx="8820504" cy="1042125"/>
            <a:chOff x="0" y="0"/>
            <a:chExt cx="11760673" cy="1389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60673" cy="1389501"/>
            </a:xfrm>
            <a:custGeom>
              <a:avLst/>
              <a:gdLst/>
              <a:ahLst/>
              <a:cxnLst/>
              <a:rect r="r" b="b" t="t" l="l"/>
              <a:pathLst>
                <a:path h="1389501" w="11760673">
                  <a:moveTo>
                    <a:pt x="0" y="0"/>
                  </a:moveTo>
                  <a:lnTo>
                    <a:pt x="11760673" y="0"/>
                  </a:lnTo>
                  <a:lnTo>
                    <a:pt x="11760673" y="1389501"/>
                  </a:lnTo>
                  <a:lnTo>
                    <a:pt x="0" y="13895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484" r="-86601" b="-2900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760673" cy="1408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05867" y="122063"/>
            <a:ext cx="3369859" cy="1723615"/>
            <a:chOff x="0" y="0"/>
            <a:chExt cx="4493146" cy="22981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9030" y="2019457"/>
            <a:ext cx="9916325" cy="7018685"/>
          </a:xfrm>
          <a:custGeom>
            <a:avLst/>
            <a:gdLst/>
            <a:ahLst/>
            <a:cxnLst/>
            <a:rect r="r" b="b" t="t" l="l"/>
            <a:pathLst>
              <a:path h="7018685" w="9916325">
                <a:moveTo>
                  <a:pt x="0" y="0"/>
                </a:moveTo>
                <a:lnTo>
                  <a:pt x="9916325" y="0"/>
                </a:lnTo>
                <a:lnTo>
                  <a:pt x="9916325" y="7018685"/>
                </a:lnTo>
                <a:lnTo>
                  <a:pt x="0" y="70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84" t="0" r="-308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27593" y="2019457"/>
            <a:ext cx="7575894" cy="5710222"/>
          </a:xfrm>
          <a:custGeom>
            <a:avLst/>
            <a:gdLst/>
            <a:ahLst/>
            <a:cxnLst/>
            <a:rect r="r" b="b" t="t" l="l"/>
            <a:pathLst>
              <a:path h="5710222" w="7575894">
                <a:moveTo>
                  <a:pt x="0" y="0"/>
                </a:moveTo>
                <a:lnTo>
                  <a:pt x="7575895" y="0"/>
                </a:lnTo>
                <a:lnTo>
                  <a:pt x="7575895" y="5710222"/>
                </a:lnTo>
                <a:lnTo>
                  <a:pt x="0" y="5710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476" t="-11158" r="-29898" b="-1748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55355" y="7782996"/>
            <a:ext cx="8120371" cy="2013432"/>
          </a:xfrm>
          <a:custGeom>
            <a:avLst/>
            <a:gdLst/>
            <a:ahLst/>
            <a:cxnLst/>
            <a:rect r="r" b="b" t="t" l="l"/>
            <a:pathLst>
              <a:path h="2013432" w="8120371">
                <a:moveTo>
                  <a:pt x="0" y="0"/>
                </a:moveTo>
                <a:lnTo>
                  <a:pt x="8120371" y="0"/>
                </a:lnTo>
                <a:lnTo>
                  <a:pt x="8120371" y="2013432"/>
                </a:lnTo>
                <a:lnTo>
                  <a:pt x="0" y="2013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00" t="-73693" r="-5770" b="-75632"/>
            </a:stretch>
          </a:blipFill>
        </p:spPr>
      </p:sp>
      <p:sp>
        <p:nvSpPr>
          <p:cNvPr name="AutoShape 13" id="13"/>
          <p:cNvSpPr/>
          <p:nvPr/>
        </p:nvSpPr>
        <p:spPr>
          <a:xfrm flipH="true" flipV="true">
            <a:off x="9644491" y="1361175"/>
            <a:ext cx="72940" cy="8488571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829274" y="9849745"/>
            <a:ext cx="1452896" cy="110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‹#›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19050" y="9704889"/>
            <a:ext cx="18288000" cy="754647"/>
            <a:chOff x="0" y="0"/>
            <a:chExt cx="24384000" cy="10061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409210" y="1693278"/>
            <a:ext cx="45933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B20E0E"/>
                </a:solidFill>
                <a:latin typeface="Arial Bold"/>
                <a:ea typeface="Arial Bold"/>
                <a:cs typeface="Arial Bold"/>
                <a:sym typeface="Arial Bold"/>
              </a:rPr>
              <a:t>QUANTUM RISK–BASED PRIORITIZATION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695" y="122063"/>
            <a:ext cx="2507704" cy="2084250"/>
            <a:chOff x="0" y="0"/>
            <a:chExt cx="3343605" cy="2779000"/>
          </a:xfrm>
        </p:grpSpPr>
        <p:sp>
          <p:nvSpPr>
            <p:cNvPr name="Freeform 19" id="19" descr="Your startup LOGO"/>
            <p:cNvSpPr/>
            <p:nvPr/>
          </p:nvSpPr>
          <p:spPr>
            <a:xfrm flipH="false" flipV="false" rot="0">
              <a:off x="0" y="0"/>
              <a:ext cx="3343656" cy="2779013"/>
            </a:xfrm>
            <a:custGeom>
              <a:avLst/>
              <a:gdLst/>
              <a:ahLst/>
              <a:cxnLst/>
              <a:rect r="r" b="b" t="t" l="l"/>
              <a:pathLst>
                <a:path h="2779013" w="3343656">
                  <a:moveTo>
                    <a:pt x="0" y="1389506"/>
                  </a:moveTo>
                  <a:cubicBezTo>
                    <a:pt x="0" y="622046"/>
                    <a:pt x="748538" y="0"/>
                    <a:pt x="1671828" y="0"/>
                  </a:cubicBezTo>
                  <a:cubicBezTo>
                    <a:pt x="2595118" y="0"/>
                    <a:pt x="3343656" y="622046"/>
                    <a:pt x="3343656" y="1389506"/>
                  </a:cubicBezTo>
                  <a:cubicBezTo>
                    <a:pt x="3343656" y="2156967"/>
                    <a:pt x="2595118" y="2779013"/>
                    <a:pt x="1671828" y="2779013"/>
                  </a:cubicBezTo>
                  <a:cubicBezTo>
                    <a:pt x="748538" y="2779013"/>
                    <a:pt x="0" y="2156840"/>
                    <a:pt x="0" y="138950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343605" cy="279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Mudrita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599695" y="-627482"/>
            <a:ext cx="3637620" cy="19667320"/>
          </a:xfrm>
          <a:custGeom>
            <a:avLst/>
            <a:gdLst/>
            <a:ahLst/>
            <a:cxnLst/>
            <a:rect r="r" b="b" t="t" l="l"/>
            <a:pathLst>
              <a:path h="19667320" w="3637620">
                <a:moveTo>
                  <a:pt x="0" y="0"/>
                </a:moveTo>
                <a:lnTo>
                  <a:pt x="3637620" y="0"/>
                </a:lnTo>
                <a:lnTo>
                  <a:pt x="3637620" y="19667320"/>
                </a:lnTo>
                <a:lnTo>
                  <a:pt x="0" y="1966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491" t="0" r="-234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32144"/>
            <a:ext cx="18288000" cy="754647"/>
            <a:chOff x="0" y="0"/>
            <a:chExt cx="24384000" cy="1006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221"/>
                  </a:lnTo>
                  <a:lnTo>
                    <a:pt x="0" y="100622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91480" y="591136"/>
            <a:ext cx="9105040" cy="1035991"/>
            <a:chOff x="0" y="0"/>
            <a:chExt cx="12140054" cy="1381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40054" cy="1381322"/>
            </a:xfrm>
            <a:custGeom>
              <a:avLst/>
              <a:gdLst/>
              <a:ahLst/>
              <a:cxnLst/>
              <a:rect r="r" b="b" t="t" l="l"/>
              <a:pathLst>
                <a:path h="1381322" w="12140054">
                  <a:moveTo>
                    <a:pt x="0" y="0"/>
                  </a:moveTo>
                  <a:lnTo>
                    <a:pt x="12140054" y="0"/>
                  </a:lnTo>
                  <a:lnTo>
                    <a:pt x="12140054" y="1381322"/>
                  </a:lnTo>
                  <a:lnTo>
                    <a:pt x="0" y="1381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819" r="-80770" b="-2923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140054" cy="140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0000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05867" y="122063"/>
            <a:ext cx="3369859" cy="1723615"/>
            <a:chOff x="0" y="0"/>
            <a:chExt cx="4493146" cy="22981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3133" cy="2298192"/>
            </a:xfrm>
            <a:custGeom>
              <a:avLst/>
              <a:gdLst/>
              <a:ahLst/>
              <a:cxnLst/>
              <a:rect r="r" b="b" t="t" l="l"/>
              <a:pathLst>
                <a:path h="2298192" w="4493133">
                  <a:moveTo>
                    <a:pt x="0" y="0"/>
                  </a:moveTo>
                  <a:lnTo>
                    <a:pt x="4493133" y="0"/>
                  </a:lnTo>
                  <a:lnTo>
                    <a:pt x="4493133" y="2298192"/>
                  </a:lnTo>
                  <a:lnTo>
                    <a:pt x="0" y="229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72064" y="2227202"/>
            <a:ext cx="13689859" cy="2561677"/>
          </a:xfrm>
          <a:custGeom>
            <a:avLst/>
            <a:gdLst/>
            <a:ahLst/>
            <a:cxnLst/>
            <a:rect r="r" b="b" t="t" l="l"/>
            <a:pathLst>
              <a:path h="2561677" w="13689859">
                <a:moveTo>
                  <a:pt x="0" y="0"/>
                </a:moveTo>
                <a:lnTo>
                  <a:pt x="13689859" y="0"/>
                </a:lnTo>
                <a:lnTo>
                  <a:pt x="13689859" y="2561677"/>
                </a:lnTo>
                <a:lnTo>
                  <a:pt x="0" y="25616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85" t="-51181" r="-3089" b="-16498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2410" y="4998212"/>
            <a:ext cx="14083635" cy="2232335"/>
          </a:xfrm>
          <a:custGeom>
            <a:avLst/>
            <a:gdLst/>
            <a:ahLst/>
            <a:cxnLst/>
            <a:rect r="r" b="b" t="t" l="l"/>
            <a:pathLst>
              <a:path h="2232335" w="14083635">
                <a:moveTo>
                  <a:pt x="0" y="0"/>
                </a:moveTo>
                <a:lnTo>
                  <a:pt x="14083635" y="0"/>
                </a:lnTo>
                <a:lnTo>
                  <a:pt x="14083635" y="2232334"/>
                </a:lnTo>
                <a:lnTo>
                  <a:pt x="0" y="2232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95" t="-214825" r="0" b="-4997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9901" y="7825412"/>
            <a:ext cx="17068197" cy="1111867"/>
          </a:xfrm>
          <a:custGeom>
            <a:avLst/>
            <a:gdLst/>
            <a:ahLst/>
            <a:cxnLst/>
            <a:rect r="r" b="b" t="t" l="l"/>
            <a:pathLst>
              <a:path h="1111867" w="17068197">
                <a:moveTo>
                  <a:pt x="0" y="0"/>
                </a:moveTo>
                <a:lnTo>
                  <a:pt x="17068198" y="0"/>
                </a:lnTo>
                <a:lnTo>
                  <a:pt x="17068198" y="1111866"/>
                </a:lnTo>
                <a:lnTo>
                  <a:pt x="0" y="1111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504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11221" y="3909661"/>
            <a:ext cx="3559150" cy="2467677"/>
          </a:xfrm>
          <a:custGeom>
            <a:avLst/>
            <a:gdLst/>
            <a:ahLst/>
            <a:cxnLst/>
            <a:rect r="r" b="b" t="t" l="l"/>
            <a:pathLst>
              <a:path h="2467677" w="3559150">
                <a:moveTo>
                  <a:pt x="0" y="0"/>
                </a:moveTo>
                <a:lnTo>
                  <a:pt x="3559150" y="0"/>
                </a:lnTo>
                <a:lnTo>
                  <a:pt x="3559150" y="2467678"/>
                </a:lnTo>
                <a:lnTo>
                  <a:pt x="0" y="24676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28896">
            <a:off x="15081234" y="2445881"/>
            <a:ext cx="1482265" cy="1245103"/>
          </a:xfrm>
          <a:custGeom>
            <a:avLst/>
            <a:gdLst/>
            <a:ahLst/>
            <a:cxnLst/>
            <a:rect r="r" b="b" t="t" l="l"/>
            <a:pathLst>
              <a:path h="1245103" w="1482265">
                <a:moveTo>
                  <a:pt x="0" y="0"/>
                </a:moveTo>
                <a:lnTo>
                  <a:pt x="1482265" y="0"/>
                </a:lnTo>
                <a:lnTo>
                  <a:pt x="1482265" y="1245102"/>
                </a:lnTo>
                <a:lnTo>
                  <a:pt x="0" y="12451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016973" y="4729178"/>
            <a:ext cx="2661126" cy="99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b="true" sz="1605" u="sng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1605" u="sng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OMPLETE RESEARCH &amp; REFERENCES </a:t>
            </a:r>
            <a:r>
              <a:rPr lang="en-US" b="true" sz="160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  <a:p>
            <a:pPr algn="ctr">
              <a:lnSpc>
                <a:spcPts val="1926"/>
              </a:lnSpc>
              <a:spcBef>
                <a:spcPct val="0"/>
              </a:spcBef>
            </a:pPr>
            <a:r>
              <a:rPr lang="en-US" b="true" sz="160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View all papers, standards and sources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102" y="55465"/>
            <a:ext cx="2550356" cy="1962187"/>
            <a:chOff x="0" y="0"/>
            <a:chExt cx="3612010" cy="2779000"/>
          </a:xfrm>
        </p:grpSpPr>
        <p:sp>
          <p:nvSpPr>
            <p:cNvPr name="Freeform 20" id="20" descr="Your startup LOGO"/>
            <p:cNvSpPr/>
            <p:nvPr/>
          </p:nvSpPr>
          <p:spPr>
            <a:xfrm flipH="false" flipV="false" rot="0">
              <a:off x="0" y="0"/>
              <a:ext cx="3612061" cy="2779013"/>
            </a:xfrm>
            <a:custGeom>
              <a:avLst/>
              <a:gdLst/>
              <a:ahLst/>
              <a:cxnLst/>
              <a:rect r="r" b="b" t="t" l="l"/>
              <a:pathLst>
                <a:path h="2779013" w="3612061">
                  <a:moveTo>
                    <a:pt x="0" y="1389506"/>
                  </a:moveTo>
                  <a:cubicBezTo>
                    <a:pt x="0" y="622046"/>
                    <a:pt x="808626" y="0"/>
                    <a:pt x="1806033" y="0"/>
                  </a:cubicBezTo>
                  <a:cubicBezTo>
                    <a:pt x="2803439" y="0"/>
                    <a:pt x="3612061" y="622046"/>
                    <a:pt x="3612061" y="1389506"/>
                  </a:cubicBezTo>
                  <a:cubicBezTo>
                    <a:pt x="3612061" y="2156967"/>
                    <a:pt x="2803439" y="2779013"/>
                    <a:pt x="1806033" y="2779013"/>
                  </a:cubicBezTo>
                  <a:cubicBezTo>
                    <a:pt x="808626" y="2779013"/>
                    <a:pt x="0" y="2156840"/>
                    <a:pt x="0" y="138950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612010" cy="279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Mudrita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DAHT-ejOfbI</dc:identifier>
  <dcterms:modified xsi:type="dcterms:W3CDTF">2011-08-01T06:04:30Z</dcterms:modified>
  <cp:revision>1</cp:revision>
  <dc:title>Draft1</dc:title>
</cp:coreProperties>
</file>